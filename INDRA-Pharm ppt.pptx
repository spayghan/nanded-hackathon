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78D5-684D-5FA5-4575-B803EAE11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E7CC0-ACDD-2E4B-8C02-9B8CACE0D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A222A-6DD5-BE5C-86D5-293B572ED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A21B4-1E04-9B70-BDDE-C19939B1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7669C-1397-8DDD-7CE2-770F1350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97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9761-A91A-17E1-222B-46D647D2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4BA5-EF84-8F6E-334C-9B52324C8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F718D-9898-85C5-57B9-B2E02281D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88E33-DE44-D488-D01E-D387ADB5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9E8A2-9454-7154-0595-29FA478A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73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B4260-8438-B202-C983-0EEF6B10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08965-711D-FB6E-05FF-B6D2F8F3B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53969-81B6-0523-9D1C-37FDCF84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886C6-2517-2185-1B52-28F2AE1C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7E074-0180-3C1D-1512-C997F294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693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FFE30-D83E-070E-AD92-8B2DBADF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71E51-DF3B-97C7-9630-1171DE82D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1E9ED-DC4F-D802-88CC-D42FB6FAE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0F408-9836-F819-1B98-DC5ED1A9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6B79A-40C1-6F84-7AC9-89DC54A0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E23C8-FAA5-BFD5-F664-8F532A7D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51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1C1A-3D8A-99F2-1A5B-2D30CD14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EC201-A32A-8D4E-DAAC-881114EED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235AB-371D-D870-1657-63350A760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7DF3F-0D42-FF61-FC75-EA7A6AF39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0FFD0-597C-E8AC-544A-795E5611F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4B09D-0856-618E-4574-78E34A38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55E41-3D3C-CD97-DEAC-1BCB381D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FC00DF-9C64-9844-BE16-172DBE06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50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25C7-5D3D-E0F5-4D5F-0AD14212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7C5DF-A13D-4490-2B87-2380F5AB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FAD30-5BF9-19BB-7E7B-79BA5778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450A1-47BA-F12D-7546-9EF1631C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25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69C4C7-2E7B-FDC0-1C93-0FFAF129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65519-E774-C353-DD3D-835F39BF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A984B-221C-E242-2B5F-4A1136E6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124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39221-E66F-1A62-636B-BB58E512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10367-1B13-16B1-46A4-EA2992D1D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0027B-FA69-9508-7529-C0B463725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B98C9-4122-ED02-699E-4500FAF7D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8165-8617-2F42-809C-1594AAB0A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47D77-DD88-05F0-3E18-7E2E5CA5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27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74DB-7B93-DE41-59F5-3B54D7CD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C05D9-E847-A7A5-C13A-647BAB5D1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D22F6-C415-972A-8EBA-5E0AF565B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61EAE-ED04-B11F-DD22-3316B76F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2CF84-DCF4-103C-638E-F4E6C9A3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CF087-9DB1-17CB-DD03-B1B5C1B2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30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8F51-359B-4F31-4578-DC53ED5E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87436-2AB7-F6AB-91BA-47E0380F8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57E3-7512-9A93-2A78-3DCDA4F2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D01A1-592B-B0B3-A36C-0F31B78A6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F0FB2-F5A4-681F-5E16-863594FD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20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3F3E2-03D1-6E8D-A4BE-1953CF179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59633-CD9B-496E-3339-28AE55663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078ED-F8B6-6243-ED84-27A2190D7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30A9-39D8-A4C7-7DEC-2A1A2D4A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5255A-AB4F-71ED-E937-C0223B4A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63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5FBE2-E5D4-EDAD-32A5-5B619468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82E1A-5231-E5E2-29FC-B535ADCFE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0435F-40F7-4D2A-8BF8-77E561E80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B3555-88B5-40FC-BD2E-4771098347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B2D26-1C0D-9B43-3E0A-FC2CDF4B5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F592B-C818-C4D9-0C05-0872756BB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383D6-F678-4506-9578-50BF54DA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848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E76B-55C7-467A-82C8-6C938CFD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29" y="365125"/>
            <a:ext cx="7885472" cy="1325563"/>
          </a:xfrm>
        </p:spPr>
        <p:txBody>
          <a:bodyPr/>
          <a:lstStyle/>
          <a:p>
            <a:r>
              <a:rPr lang="en-IN" b="1" dirty="0">
                <a:latin typeface="Aparajita" panose="02020603050405020304" pitchFamily="18" charset="0"/>
                <a:cs typeface="Aparajita" panose="02020603050405020304" pitchFamily="18" charset="0"/>
              </a:rPr>
              <a:t>                    INDRA-Pharm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F1B16-51C9-C866-52DE-B86774104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926254"/>
            <a:ext cx="10550014" cy="4700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Sub title =&gt;  </a:t>
            </a:r>
            <a:r>
              <a:rPr lang="en-US" sz="2500" dirty="0"/>
              <a:t>Transforming Traditional E-Pharmacy into an Intelligent Self-Operating System.</a:t>
            </a:r>
          </a:p>
          <a:p>
            <a:pPr marL="0" indent="0">
              <a:buNone/>
            </a:pPr>
            <a:r>
              <a:rPr lang="en-US" b="1" dirty="0"/>
              <a:t>Introduction :</a:t>
            </a:r>
          </a:p>
          <a:p>
            <a:pPr marL="0" indent="0">
              <a:buNone/>
            </a:pPr>
            <a:r>
              <a:rPr lang="en-US" sz="2500" dirty="0"/>
              <a:t>1 : Rapid growth of online pharmacies demands smarter automation.</a:t>
            </a:r>
          </a:p>
          <a:p>
            <a:pPr marL="0" indent="0">
              <a:buNone/>
            </a:pPr>
            <a:r>
              <a:rPr lang="en-US" sz="2500" dirty="0"/>
              <a:t>2 :Traditional systems rely on manual search, clicks, and validation.</a:t>
            </a:r>
          </a:p>
          <a:p>
            <a:pPr marL="0" indent="0">
              <a:buNone/>
            </a:pPr>
            <a:r>
              <a:rPr lang="en-US" sz="2500" dirty="0"/>
              <a:t>3 :This project proposes an AI-driven autonomous pharmacy that acts like a virtual expert pharmacist.</a:t>
            </a:r>
          </a:p>
          <a:p>
            <a:pPr marL="0" indent="0">
              <a:buNone/>
            </a:pPr>
            <a:r>
              <a:rPr lang="en-US" b="1" dirty="0"/>
              <a:t>Presented by: </a:t>
            </a:r>
            <a:r>
              <a:rPr lang="en-US" sz="2500" b="1" dirty="0"/>
              <a:t> 1:</a:t>
            </a:r>
            <a:r>
              <a:rPr lang="en-US" sz="2500" dirty="0"/>
              <a:t> Om Nikam (L)    2: Shashvat </a:t>
            </a:r>
            <a:r>
              <a:rPr lang="en-US" sz="2500" dirty="0" err="1"/>
              <a:t>Payghan</a:t>
            </a:r>
            <a:r>
              <a:rPr lang="en-US" sz="2500" dirty="0"/>
              <a:t> </a:t>
            </a:r>
          </a:p>
          <a:p>
            <a:pPr marL="0" indent="0">
              <a:buNone/>
            </a:pPr>
            <a:r>
              <a:rPr lang="en-US" sz="2500" dirty="0"/>
              <a:t>                               3: Tushar </a:t>
            </a:r>
            <a:r>
              <a:rPr lang="en-US" sz="2500" dirty="0" err="1"/>
              <a:t>Ganmukhe</a:t>
            </a:r>
            <a:r>
              <a:rPr lang="en-US" sz="2500" dirty="0"/>
              <a:t>  4: Gaurav Fase</a:t>
            </a:r>
          </a:p>
          <a:p>
            <a:pPr marL="0" indent="0">
              <a:buNone/>
            </a:pPr>
            <a:r>
              <a:rPr lang="en-US" sz="2500" b="1" dirty="0"/>
              <a:t>College Name: </a:t>
            </a:r>
            <a:r>
              <a:rPr lang="en-US" sz="2500" dirty="0"/>
              <a:t>P R Pote Patil College of </a:t>
            </a:r>
            <a:r>
              <a:rPr lang="en-US" sz="2500" dirty="0" err="1"/>
              <a:t>engenering</a:t>
            </a:r>
            <a:r>
              <a:rPr lang="en-US" sz="2500" dirty="0"/>
              <a:t> and Management Amaravati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A87E4-1ED5-089F-E4C3-882AEF3E6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80" y="129559"/>
            <a:ext cx="1875351" cy="1875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98591B-B311-E3D9-34AB-0F6F7ED0F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929" y="129559"/>
            <a:ext cx="1875351" cy="18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8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969DB-E2EB-6071-BCAC-518F64523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42569"/>
            <a:ext cx="5820697" cy="929147"/>
          </a:xfrm>
        </p:spPr>
        <p:txBody>
          <a:bodyPr>
            <a:normAutofit/>
          </a:bodyPr>
          <a:lstStyle/>
          <a:p>
            <a:r>
              <a:rPr lang="en-US" b="1" dirty="0"/>
              <a:t>       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FA20F-CC77-09BF-7A50-05A01174C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071717"/>
            <a:ext cx="11710220" cy="5643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Current Challenges in Online Pharmacy System:</a:t>
            </a:r>
          </a:p>
          <a:p>
            <a:pPr marL="0" indent="0" algn="just">
              <a:buNone/>
            </a:pPr>
            <a:r>
              <a:rPr lang="en-US" sz="2500" dirty="0"/>
              <a:t>1 =&gt; Manual search and selection of medicines.</a:t>
            </a:r>
          </a:p>
          <a:p>
            <a:pPr marL="0" indent="0" algn="just">
              <a:buNone/>
            </a:pPr>
            <a:r>
              <a:rPr lang="en-US" sz="2500" dirty="0"/>
              <a:t>2 =&gt; No understanding of natural language or voice inputs.</a:t>
            </a:r>
          </a:p>
          <a:p>
            <a:pPr marL="0" indent="0" algn="just">
              <a:buNone/>
            </a:pPr>
            <a:r>
              <a:rPr lang="en-US" sz="2500" dirty="0"/>
              <a:t>3 =&gt; High risk of incorrect dosage or unsafe orders.</a:t>
            </a:r>
          </a:p>
          <a:p>
            <a:pPr marL="0" indent="0" algn="just">
              <a:buNone/>
            </a:pPr>
            <a:r>
              <a:rPr lang="en-US" sz="2500" dirty="0"/>
              <a:t>4 =&gt; Lack of proactive refill reminders.</a:t>
            </a:r>
          </a:p>
          <a:p>
            <a:pPr marL="0" indent="0" algn="just">
              <a:buNone/>
            </a:pPr>
            <a:r>
              <a:rPr lang="en-US" sz="2500" dirty="0"/>
              <a:t>5 =&gt; Limited safety checks and explainability.</a:t>
            </a:r>
          </a:p>
          <a:p>
            <a:pPr marL="0" indent="0">
              <a:buNone/>
            </a:pPr>
            <a:r>
              <a:rPr lang="en-US" b="1" dirty="0"/>
              <a:t>Problem: </a:t>
            </a:r>
            <a:r>
              <a:rPr lang="en-US" sz="2500" dirty="0"/>
              <a:t>Existing systems are reactive, rule-based, and user-dependent, leading to inefficiency and safety risks.</a:t>
            </a:r>
            <a:endParaRPr lang="en-IN" sz="2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DC0A2-7EAC-19F3-A5FD-9DF2CBC2C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3" y="4689987"/>
            <a:ext cx="9572716" cy="201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9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29CC-1E7A-1F79-8075-8BF0B612A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652" y="491613"/>
            <a:ext cx="5309420" cy="1199075"/>
          </a:xfrm>
        </p:spPr>
        <p:txBody>
          <a:bodyPr>
            <a:normAutofit/>
          </a:bodyPr>
          <a:lstStyle/>
          <a:p>
            <a:r>
              <a:rPr lang="en-US" dirty="0"/>
              <a:t>     </a:t>
            </a:r>
            <a:r>
              <a:rPr lang="en-US" b="1" dirty="0"/>
              <a:t>Proposed Solution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FC134-4567-BD94-4EF9-8EB114F65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5532"/>
            <a:ext cx="12192000" cy="5434780"/>
          </a:xfrm>
        </p:spPr>
        <p:txBody>
          <a:bodyPr>
            <a:normAutofit fontScale="25000" lnSpcReduction="20000"/>
          </a:bodyPr>
          <a:lstStyle/>
          <a:p>
            <a:r>
              <a:rPr lang="en-IN" sz="10000" b="1" dirty="0"/>
              <a:t>Agentic AI-Powered Pharmacy Platform:</a:t>
            </a:r>
          </a:p>
          <a:p>
            <a:r>
              <a:rPr lang="en-IN" sz="10000" b="1" dirty="0"/>
              <a:t>Key Features:</a:t>
            </a:r>
          </a:p>
          <a:p>
            <a:r>
              <a:rPr lang="en-IN" sz="10000" dirty="0"/>
              <a:t>Conversational AI (text &amp; voice)</a:t>
            </a:r>
          </a:p>
          <a:p>
            <a:r>
              <a:rPr lang="en-IN" sz="10000" dirty="0"/>
              <a:t>Automatic extraction of:</a:t>
            </a:r>
          </a:p>
          <a:p>
            <a:r>
              <a:rPr lang="en-IN" sz="10000" dirty="0"/>
              <a:t>     1: Medicine name</a:t>
            </a:r>
          </a:p>
          <a:p>
            <a:r>
              <a:rPr lang="en-IN" sz="10000" dirty="0"/>
              <a:t>     2:Dosage</a:t>
            </a:r>
          </a:p>
          <a:p>
            <a:r>
              <a:rPr lang="en-IN" sz="10000" dirty="0"/>
              <a:t>     3:Quantity</a:t>
            </a:r>
          </a:p>
          <a:p>
            <a:r>
              <a:rPr lang="en-IN" sz="10000" dirty="0"/>
              <a:t>     4:</a:t>
            </a:r>
            <a:r>
              <a:rPr lang="en-US" sz="10000" dirty="0"/>
              <a:t>Autonomous order approval or rejection</a:t>
            </a:r>
          </a:p>
          <a:p>
            <a:r>
              <a:rPr lang="en-US" sz="10000" dirty="0"/>
              <a:t>     5:Minimal human intervention</a:t>
            </a:r>
          </a:p>
          <a:p>
            <a:r>
              <a:rPr lang="en-IN" sz="10000" dirty="0"/>
              <a:t>     6:Acts as a virtual pharmacist</a:t>
            </a:r>
          </a:p>
          <a:p>
            <a:r>
              <a:rPr lang="en-IN" sz="10000" b="1" dirty="0"/>
              <a:t>Goal:</a:t>
            </a:r>
          </a:p>
          <a:p>
            <a:pPr marL="0" indent="0">
              <a:buNone/>
            </a:pPr>
            <a:r>
              <a:rPr lang="en-IN" sz="10000" dirty="0"/>
              <a:t> </a:t>
            </a:r>
            <a:r>
              <a:rPr lang="en-US" sz="10000" dirty="0"/>
              <a:t>Enable safe, intelligent, </a:t>
            </a:r>
          </a:p>
          <a:p>
            <a:pPr marL="0" indent="0">
              <a:buNone/>
            </a:pPr>
            <a:r>
              <a:rPr lang="en-US" sz="10000" dirty="0"/>
              <a:t>and fully autonomous medicine ordering</a:t>
            </a:r>
            <a:endParaRPr lang="en-IN" sz="10000" dirty="0"/>
          </a:p>
          <a:p>
            <a:pPr marL="0" indent="0">
              <a:buNone/>
            </a:pPr>
            <a:r>
              <a:rPr lang="en-IN" sz="2000" b="1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9AFB3-1E94-861D-4BA2-841D4DFEE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032" y="1423219"/>
            <a:ext cx="6009968" cy="549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2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348C-ACFE-FCA3-E4D0-275A3A2D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2" y="365125"/>
            <a:ext cx="10341077" cy="1325563"/>
          </a:xfrm>
        </p:spPr>
        <p:txBody>
          <a:bodyPr/>
          <a:lstStyle/>
          <a:p>
            <a:r>
              <a:rPr lang="en-US" dirty="0"/>
              <a:t>             </a:t>
            </a:r>
            <a:r>
              <a:rPr lang="en-US" b="1" dirty="0"/>
              <a:t>System Architecture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18C50-FD89-CB93-C4ED-EBA15ECF7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1752446"/>
            <a:ext cx="11275142" cy="4953155"/>
          </a:xfrm>
        </p:spPr>
        <p:txBody>
          <a:bodyPr/>
          <a:lstStyle/>
          <a:p>
            <a:r>
              <a:rPr lang="en-IN" dirty="0"/>
              <a:t>Core AI Agents: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C591B6-5E63-9DA8-E4FC-0B1AF7CE9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638110"/>
              </p:ext>
            </p:extLst>
          </p:nvPr>
        </p:nvGraphicFramePr>
        <p:xfrm>
          <a:off x="78658" y="2281084"/>
          <a:ext cx="7000568" cy="4424517"/>
        </p:xfrm>
        <a:graphic>
          <a:graphicData uri="http://schemas.openxmlformats.org/drawingml/2006/table">
            <a:tbl>
              <a:tblPr/>
              <a:tblGrid>
                <a:gridCol w="3500284">
                  <a:extLst>
                    <a:ext uri="{9D8B030D-6E8A-4147-A177-3AD203B41FA5}">
                      <a16:colId xmlns:a16="http://schemas.microsoft.com/office/drawing/2014/main" val="584383007"/>
                    </a:ext>
                  </a:extLst>
                </a:gridCol>
                <a:gridCol w="3500284">
                  <a:extLst>
                    <a:ext uri="{9D8B030D-6E8A-4147-A177-3AD203B41FA5}">
                      <a16:colId xmlns:a16="http://schemas.microsoft.com/office/drawing/2014/main" val="2604544253"/>
                    </a:ext>
                  </a:extLst>
                </a:gridCol>
              </a:tblGrid>
              <a:tr h="378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 Agent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Role / Function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477457"/>
                  </a:ext>
                </a:extLst>
              </a:tr>
              <a:tr h="66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Conversation Agent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Understands user intent from text or voice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919086"/>
                  </a:ext>
                </a:extLst>
              </a:tr>
              <a:tr h="66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Entity Extraction Agent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Extracts medicine name, dosage, and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975296"/>
                  </a:ext>
                </a:extLst>
              </a:tr>
              <a:tr h="66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Safety &amp; Policy Agent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Enforces medical guidelines and legal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30202"/>
                  </a:ext>
                </a:extLst>
              </a:tr>
              <a:tr h="66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Inventory Agent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 real-time stock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182149"/>
                  </a:ext>
                </a:extLst>
              </a:tr>
              <a:tr h="662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Refill Prediction Agent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Predicts future medicine needs and refill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269566"/>
                  </a:ext>
                </a:extLst>
              </a:tr>
              <a:tr h="735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Human-in-the-Loop Agent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Handles high-risk or uncertain cases requiring human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48587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CB66594-FD1A-DD81-9ADD-3C4F90B50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032" y="4479329"/>
            <a:ext cx="5184968" cy="237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0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051C-F57E-FA72-FCAA-500723A6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</a:t>
            </a:r>
            <a:r>
              <a:rPr lang="en-US" b="1" dirty="0"/>
              <a:t>Intelligence, Safety &amp; Observability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44D9-D9F1-FD10-7EDF-6D1844851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500" b="1" dirty="0"/>
              <a:t>Safety &amp; Reliability Measures:</a:t>
            </a:r>
          </a:p>
          <a:p>
            <a:pPr marL="0" indent="0">
              <a:buNone/>
            </a:pPr>
            <a:r>
              <a:rPr lang="en-IN" sz="2500" b="1" dirty="0"/>
              <a:t>       </a:t>
            </a:r>
            <a:r>
              <a:rPr lang="en-IN" sz="2500" dirty="0"/>
              <a:t>1: </a:t>
            </a:r>
            <a:r>
              <a:rPr lang="en-US" sz="2500" dirty="0"/>
              <a:t>Confidence scoring for entity extraction.</a:t>
            </a:r>
          </a:p>
          <a:p>
            <a:pPr marL="0" indent="0">
              <a:buNone/>
            </a:pPr>
            <a:r>
              <a:rPr lang="en-US" sz="2500" dirty="0"/>
              <a:t>       2: Explainable decision generation for every order.</a:t>
            </a:r>
          </a:p>
          <a:p>
            <a:pPr marL="0" indent="0">
              <a:buNone/>
            </a:pPr>
            <a:r>
              <a:rPr lang="en-US" sz="2500" dirty="0"/>
              <a:t>       3: Automatic rejection of unsafe or invalid orders.</a:t>
            </a:r>
          </a:p>
          <a:p>
            <a:pPr marL="0" indent="0">
              <a:buNone/>
            </a:pPr>
            <a:r>
              <a:rPr lang="en-US" sz="2500" dirty="0"/>
              <a:t>       4: Abuse and suspicious behavior detection.</a:t>
            </a:r>
          </a:p>
          <a:p>
            <a:pPr marL="0" indent="0">
              <a:buNone/>
            </a:pPr>
            <a:r>
              <a:rPr lang="en-IN" sz="2500" b="1" dirty="0"/>
              <a:t>Observability:</a:t>
            </a:r>
          </a:p>
          <a:p>
            <a:pPr marL="0" indent="0">
              <a:buNone/>
            </a:pPr>
            <a:r>
              <a:rPr lang="en-IN" sz="2500" b="1" dirty="0"/>
              <a:t>       </a:t>
            </a:r>
            <a:r>
              <a:rPr lang="en-IN" sz="2500" dirty="0"/>
              <a:t>1: Logs every agent action.</a:t>
            </a:r>
          </a:p>
          <a:p>
            <a:pPr marL="0" indent="0">
              <a:buNone/>
            </a:pPr>
            <a:r>
              <a:rPr lang="en-IN" sz="2500" dirty="0"/>
              <a:t>       2: </a:t>
            </a:r>
            <a:r>
              <a:rPr lang="en-US" sz="2500" dirty="0"/>
              <a:t>Tracks decisions, confidence, and policy checks.</a:t>
            </a:r>
          </a:p>
          <a:p>
            <a:pPr marL="0" indent="0">
              <a:buNone/>
            </a:pPr>
            <a:r>
              <a:rPr lang="en-US" sz="2500" dirty="0"/>
              <a:t>       3: Enables transparency and debugging</a:t>
            </a:r>
            <a:r>
              <a:rPr lang="en-US" sz="2500" b="1" dirty="0"/>
              <a:t>.</a:t>
            </a:r>
            <a:endParaRPr lang="en-IN" sz="2500" b="1" dirty="0"/>
          </a:p>
        </p:txBody>
      </p:sp>
    </p:spTree>
    <p:extLst>
      <p:ext uri="{BB962C8B-B14F-4D97-AF65-F5344CB8AC3E}">
        <p14:creationId xmlns:p14="http://schemas.microsoft.com/office/powerpoint/2010/main" val="145522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6C076-3C00-698B-99A0-6D64EEB7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897" y="452284"/>
            <a:ext cx="7128387" cy="1238404"/>
          </a:xfrm>
        </p:spPr>
        <p:txBody>
          <a:bodyPr/>
          <a:lstStyle/>
          <a:p>
            <a:r>
              <a:rPr lang="en-US" dirty="0"/>
              <a:t>    </a:t>
            </a:r>
            <a:r>
              <a:rPr lang="en-US" b="1" dirty="0"/>
              <a:t>Conclusion &amp; Future Scope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872144-25A7-E01D-4D55-7E1E36C11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2" y="1580347"/>
            <a:ext cx="5453428" cy="51612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6A3EB5-7247-10FB-8F8D-9A8AC59E4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342" y="1566423"/>
            <a:ext cx="6484999" cy="50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32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395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Aparajita</vt:lpstr>
      <vt:lpstr>Arial</vt:lpstr>
      <vt:lpstr>Calibri</vt:lpstr>
      <vt:lpstr>Calibri Light</vt:lpstr>
      <vt:lpstr>Office Theme</vt:lpstr>
      <vt:lpstr>                    INDRA-Pharm</vt:lpstr>
      <vt:lpstr>       Problem Statement</vt:lpstr>
      <vt:lpstr>     Proposed Solution</vt:lpstr>
      <vt:lpstr>             System Architecture</vt:lpstr>
      <vt:lpstr>           Intelligence, Safety &amp; Observability</vt:lpstr>
      <vt:lpstr>    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Nikam</dc:creator>
  <cp:lastModifiedBy>Om Nikam</cp:lastModifiedBy>
  <cp:revision>1</cp:revision>
  <dcterms:created xsi:type="dcterms:W3CDTF">2026-02-01T04:07:05Z</dcterms:created>
  <dcterms:modified xsi:type="dcterms:W3CDTF">2026-02-01T06:10:08Z</dcterms:modified>
</cp:coreProperties>
</file>